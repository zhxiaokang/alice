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804" y="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kang Zhang" userId="560ed40a-cbe5-4173-b474-956d5606273f" providerId="ADAL" clId="{236AC842-FBA5-4FE8-A5F6-0B79C75E9FAF}"/>
    <pc:docChg chg="modSld">
      <pc:chgData name="Xiaokang Zhang" userId="560ed40a-cbe5-4173-b474-956d5606273f" providerId="ADAL" clId="{236AC842-FBA5-4FE8-A5F6-0B79C75E9FAF}" dt="2025-11-25T13:09:13.677" v="63" actId="1035"/>
      <pc:docMkLst>
        <pc:docMk/>
      </pc:docMkLst>
      <pc:sldChg chg="modSp mod">
        <pc:chgData name="Xiaokang Zhang" userId="560ed40a-cbe5-4173-b474-956d5606273f" providerId="ADAL" clId="{236AC842-FBA5-4FE8-A5F6-0B79C75E9FAF}" dt="2025-11-25T13:08:34.778" v="9" actId="1035"/>
        <pc:sldMkLst>
          <pc:docMk/>
          <pc:sldMk cId="3223663447" sldId="257"/>
        </pc:sldMkLst>
        <pc:spChg chg="mod">
          <ac:chgData name="Xiaokang Zhang" userId="560ed40a-cbe5-4173-b474-956d5606273f" providerId="ADAL" clId="{236AC842-FBA5-4FE8-A5F6-0B79C75E9FAF}" dt="2025-11-25T13:08:34.778" v="9" actId="1035"/>
          <ac:spMkLst>
            <pc:docMk/>
            <pc:sldMk cId="3223663447" sldId="257"/>
            <ac:spMk id="2" creationId="{A326BA0C-CDB8-9147-8502-FAE417303D1E}"/>
          </ac:spMkLst>
        </pc:spChg>
      </pc:sldChg>
      <pc:sldChg chg="modSp mod">
        <pc:chgData name="Xiaokang Zhang" userId="560ed40a-cbe5-4173-b474-956d5606273f" providerId="ADAL" clId="{236AC842-FBA5-4FE8-A5F6-0B79C75E9FAF}" dt="2025-11-25T13:09:13.677" v="63" actId="1035"/>
        <pc:sldMkLst>
          <pc:docMk/>
          <pc:sldMk cId="867231761" sldId="258"/>
        </pc:sldMkLst>
        <pc:spChg chg="mod">
          <ac:chgData name="Xiaokang Zhang" userId="560ed40a-cbe5-4173-b474-956d5606273f" providerId="ADAL" clId="{236AC842-FBA5-4FE8-A5F6-0B79C75E9FAF}" dt="2025-11-25T13:08:41.606" v="19" actId="1035"/>
          <ac:spMkLst>
            <pc:docMk/>
            <pc:sldMk cId="867231761" sldId="258"/>
            <ac:spMk id="2" creationId="{17184DDE-2585-A35A-98A2-55F3E2832C93}"/>
          </ac:spMkLst>
        </pc:spChg>
        <pc:spChg chg="mod">
          <ac:chgData name="Xiaokang Zhang" userId="560ed40a-cbe5-4173-b474-956d5606273f" providerId="ADAL" clId="{236AC842-FBA5-4FE8-A5F6-0B79C75E9FAF}" dt="2025-11-25T13:09:13.677" v="63" actId="1035"/>
          <ac:spMkLst>
            <pc:docMk/>
            <pc:sldMk cId="867231761" sldId="258"/>
            <ac:spMk id="19" creationId="{7F6AE7D0-E35F-4182-D00F-5F26CC20E8AF}"/>
          </ac:spMkLst>
        </pc:spChg>
        <pc:spChg chg="mod">
          <ac:chgData name="Xiaokang Zhang" userId="560ed40a-cbe5-4173-b474-956d5606273f" providerId="ADAL" clId="{236AC842-FBA5-4FE8-A5F6-0B79C75E9FAF}" dt="2025-11-25T13:09:13.677" v="63" actId="1035"/>
          <ac:spMkLst>
            <pc:docMk/>
            <pc:sldMk cId="867231761" sldId="258"/>
            <ac:spMk id="21" creationId="{385DDDDD-78EC-CB12-DC0E-9A7639864C5D}"/>
          </ac:spMkLst>
        </pc:spChg>
        <pc:spChg chg="mod">
          <ac:chgData name="Xiaokang Zhang" userId="560ed40a-cbe5-4173-b474-956d5606273f" providerId="ADAL" clId="{236AC842-FBA5-4FE8-A5F6-0B79C75E9FAF}" dt="2025-11-25T13:09:13.677" v="63" actId="1035"/>
          <ac:spMkLst>
            <pc:docMk/>
            <pc:sldMk cId="867231761" sldId="258"/>
            <ac:spMk id="22" creationId="{49A14B59-A0F5-21FA-3A73-17C7D800D084}"/>
          </ac:spMkLst>
        </pc:spChg>
        <pc:spChg chg="mod">
          <ac:chgData name="Xiaokang Zhang" userId="560ed40a-cbe5-4173-b474-956d5606273f" providerId="ADAL" clId="{236AC842-FBA5-4FE8-A5F6-0B79C75E9FAF}" dt="2025-11-25T13:09:13.677" v="63" actId="1035"/>
          <ac:spMkLst>
            <pc:docMk/>
            <pc:sldMk cId="867231761" sldId="258"/>
            <ac:spMk id="23" creationId="{9B16F5E1-04C9-55CB-8133-746587BEA4F3}"/>
          </ac:spMkLst>
        </pc:spChg>
        <pc:spChg chg="mod">
          <ac:chgData name="Xiaokang Zhang" userId="560ed40a-cbe5-4173-b474-956d5606273f" providerId="ADAL" clId="{236AC842-FBA5-4FE8-A5F6-0B79C75E9FAF}" dt="2025-11-25T13:09:13.677" v="63" actId="1035"/>
          <ac:spMkLst>
            <pc:docMk/>
            <pc:sldMk cId="867231761" sldId="258"/>
            <ac:spMk id="24" creationId="{DF808C07-FF30-2C70-9AA9-15DFFC1826CF}"/>
          </ac:spMkLst>
        </pc:spChg>
        <pc:picChg chg="mod">
          <ac:chgData name="Xiaokang Zhang" userId="560ed40a-cbe5-4173-b474-956d5606273f" providerId="ADAL" clId="{236AC842-FBA5-4FE8-A5F6-0B79C75E9FAF}" dt="2025-11-25T13:09:13.677" v="63" actId="1035"/>
          <ac:picMkLst>
            <pc:docMk/>
            <pc:sldMk cId="867231761" sldId="258"/>
            <ac:picMk id="8" creationId="{CA5A8B68-2DBE-1871-B79B-268FD6B30D35}"/>
          </ac:picMkLst>
        </pc:picChg>
        <pc:picChg chg="mod">
          <ac:chgData name="Xiaokang Zhang" userId="560ed40a-cbe5-4173-b474-956d5606273f" providerId="ADAL" clId="{236AC842-FBA5-4FE8-A5F6-0B79C75E9FAF}" dt="2025-11-25T13:09:13.677" v="63" actId="1035"/>
          <ac:picMkLst>
            <pc:docMk/>
            <pc:sldMk cId="867231761" sldId="258"/>
            <ac:picMk id="11" creationId="{631F28D9-2E95-2F8F-C769-DE829BE6549A}"/>
          </ac:picMkLst>
        </pc:picChg>
        <pc:picChg chg="mod">
          <ac:chgData name="Xiaokang Zhang" userId="560ed40a-cbe5-4173-b474-956d5606273f" providerId="ADAL" clId="{236AC842-FBA5-4FE8-A5F6-0B79C75E9FAF}" dt="2025-11-25T13:09:13.677" v="63" actId="1035"/>
          <ac:picMkLst>
            <pc:docMk/>
            <pc:sldMk cId="867231761" sldId="258"/>
            <ac:picMk id="18" creationId="{9F9A9F7C-62BC-6437-9ABA-452A253045AC}"/>
          </ac:picMkLst>
        </pc:picChg>
      </pc:sldChg>
      <pc:sldChg chg="modSp mod">
        <pc:chgData name="Xiaokang Zhang" userId="560ed40a-cbe5-4173-b474-956d5606273f" providerId="ADAL" clId="{236AC842-FBA5-4FE8-A5F6-0B79C75E9FAF}" dt="2025-11-25T13:08:48.128" v="29" actId="1035"/>
        <pc:sldMkLst>
          <pc:docMk/>
          <pc:sldMk cId="789458241" sldId="259"/>
        </pc:sldMkLst>
        <pc:spChg chg="mod">
          <ac:chgData name="Xiaokang Zhang" userId="560ed40a-cbe5-4173-b474-956d5606273f" providerId="ADAL" clId="{236AC842-FBA5-4FE8-A5F6-0B79C75E9FAF}" dt="2025-11-25T13:08:48.128" v="29" actId="1035"/>
          <ac:spMkLst>
            <pc:docMk/>
            <pc:sldMk cId="789458241" sldId="259"/>
            <ac:spMk id="2" creationId="{61163C9E-A590-FE8D-7FBB-BF440F606B6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09A7A-E3D3-1E78-90DC-7BE73AE25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4027D8-CCB8-A56E-3A1D-0B1347588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57DD5-04FB-E08C-0284-D6FE136BB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784916-5C5C-FB73-D322-871027C6F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DC380F-ACB9-72C5-3CB4-C73447998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97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08894-7C3D-3BC7-D6B7-ED0C57FFC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61856-2FE7-5FEB-2C29-931FBC57E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80542-6B71-719C-8365-E790C13C1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A58B5-10EA-E720-2EE6-273C1195D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F5A119-6C2D-539F-0C1A-B76730716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951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C6C4B-69A1-43D6-14D3-95BBC3299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2E770-89F0-AC19-EFBD-DDAFE1311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FE14F-B842-1BF6-64E5-E636C6324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7291C-4954-BAB7-158C-B21629B1B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F6B4D-1FA7-2B5E-38CC-A2AB73803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3542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E9D3E-79CE-955D-3961-8307862A2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F99A3-3E81-5488-E8D5-559E614B67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B405B-7431-719B-EFE8-717D3AB73E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B05851-F368-F7F3-8AF6-559226131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45596-AAFF-E0A4-2FFF-8C4053678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3BA663-64FD-AA16-448A-5234BB8EB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0577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B55B1-94C2-F306-FD67-C45E5C782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96D2C6-2F3D-DA18-C363-24A1BF8B1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D8265B-8352-A3F1-6807-3D1FA08FD5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D52579-1E45-ACF7-53A3-6CAF104CE7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1608F6-FE9A-2D5F-A05C-C2C2D45D4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CEFD53-CBDB-0850-BE43-38C476BC9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7B3F8B-F6D2-2661-3EC4-BD5392178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E4B03C-C343-D8C3-E5A0-D1ADD00F7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9270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EE6D1-99D2-6A08-855A-DB1C52BF8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3B881C-2171-2131-CA07-B9C4C2D5C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E6C778-7FCD-8A08-A0B1-DC9D32C2C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ABEDBA-B9EC-BEC8-D0A0-1180D84A3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9929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48FCBC-D801-DD45-5967-FB3029427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7780D9-7DE3-F490-27FA-F97161D88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05758-3261-C469-4622-18E3084D9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36165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CCF08-E223-95D0-29DC-FDE951093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0A3809-9796-2348-89E3-A429F9B18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06AB4D-383E-0FE6-A8D5-F77360B00E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CF2085-4E08-5CCE-A447-2E59F7981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B7AAFB-725F-7D4C-0F9C-5DA5D7023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9948D1-EDA6-8C75-88EC-B0DF4D9DC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4580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BE0A-E0B9-5C2C-DA9C-BFFBDBCC3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959D86-0159-9241-CB0D-7E4DF2081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98970-A5B0-0247-028F-804566CAB6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7AD669-475B-5DF8-D474-342EFDB7A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A9DCE3-CA88-BE21-2437-210688B01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3D9B1-1676-AECF-C604-F2C9CD98B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7903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CA73D-CEDF-75D4-B522-CAE2C1DB6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E9CB97-00DF-4477-D2C3-1441E1668F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E15B75-5C4B-AD63-9CFA-D9C52C8E0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6CD96A-0611-F791-EDC6-B8538F872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55BA5-054E-D0D4-AFD7-97C108E2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9624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DC725F-6857-C04A-4C23-DB11B64A6A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344625-BAD4-D9FF-62C9-E57B4004FE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4C6FC-8DA7-96E8-FC7C-82F6A83AF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329EA1-8627-D155-99AA-1206985AE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2E685-6F95-96E9-DE9B-31CE80505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9201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470B94-42F5-BC66-DED7-458379657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C491F-D884-4B2C-7352-D892C06ECE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91D00-E811-9FE1-F93D-3A01A4DBDA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58F973-8343-4ABA-8E9D-C7DA959EE69D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748D5-9A26-12A8-146F-5DC256947C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7FF48-9DA8-E757-461C-0B3986C4F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67BF52-8DD6-4B9B-B230-839C58382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1947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6BA0C-CDB8-9147-8502-FAE417303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3525"/>
            <a:ext cx="10515600" cy="650875"/>
          </a:xfrm>
        </p:spPr>
        <p:txBody>
          <a:bodyPr>
            <a:normAutofit/>
          </a:bodyPr>
          <a:lstStyle/>
          <a:p>
            <a:r>
              <a:rPr lang="en-US" altLang="zh-CN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Q1: difference in PFS between treatment groups</a:t>
            </a:r>
            <a:endParaRPr lang="zh-CN" alt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97FBBC6-4905-40E1-2BD6-87681A898C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4483" y="1488108"/>
            <a:ext cx="4698718" cy="442388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BE5063-C153-D43E-69E6-49567CAC41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0551" y="1558745"/>
            <a:ext cx="3486506" cy="2867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178084-8036-DC2E-CF93-255F47765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834" y="2027226"/>
            <a:ext cx="4945223" cy="1876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EE053BD-06F6-A548-0100-8F02612D6867}"/>
              </a:ext>
            </a:extLst>
          </p:cNvPr>
          <p:cNvSpPr txBox="1"/>
          <p:nvPr/>
        </p:nvSpPr>
        <p:spPr>
          <a:xfrm>
            <a:off x="6291834" y="3108574"/>
            <a:ext cx="41452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Considering the small-sample bias</a:t>
            </a:r>
            <a:endParaRPr lang="zh-CN" alt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0C21F16-B2E6-3322-9AAC-E9E001567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0551" y="3556691"/>
            <a:ext cx="3486506" cy="2867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1104D87-F554-F458-8965-22D39545FB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834" y="3973686"/>
            <a:ext cx="5061966" cy="21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663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600D-A625-19F8-EF74-DD6C24DA4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84DDE-2585-A35A-98A2-55F3E2832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3525"/>
            <a:ext cx="10515600" cy="650875"/>
          </a:xfrm>
        </p:spPr>
        <p:txBody>
          <a:bodyPr>
            <a:normAutofit/>
          </a:bodyPr>
          <a:lstStyle/>
          <a:p>
            <a:r>
              <a:rPr lang="en-US" altLang="zh-CN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Q2: gene expression scores’ association with PFS</a:t>
            </a:r>
            <a:endParaRPr lang="zh-CN" alt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5A8B68-2DBE-1871-B79B-268FD6B30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972" y="1726862"/>
            <a:ext cx="4195880" cy="4168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31F28D9-2E95-2F8F-C769-DE829BE65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182" y="2191988"/>
            <a:ext cx="5698178" cy="338842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F9A9F7C-62BC-6437-9ABA-452A253045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330"/>
          <a:stretch/>
        </p:blipFill>
        <p:spPr>
          <a:xfrm>
            <a:off x="7789772" y="2212308"/>
            <a:ext cx="673508" cy="326852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F6AE7D0-E35F-4182-D00F-5F26CC20E8AF}"/>
              </a:ext>
            </a:extLst>
          </p:cNvPr>
          <p:cNvSpPr txBox="1"/>
          <p:nvPr/>
        </p:nvSpPr>
        <p:spPr>
          <a:xfrm>
            <a:off x="7659891" y="1719936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/>
              <a:t>q_value</a:t>
            </a:r>
            <a:endParaRPr lang="zh-CN" altLang="en-US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5DDDDD-78EC-CB12-DC0E-9A7639864C5D}"/>
              </a:ext>
            </a:extLst>
          </p:cNvPr>
          <p:cNvSpPr txBox="1"/>
          <p:nvPr/>
        </p:nvSpPr>
        <p:spPr>
          <a:xfrm>
            <a:off x="8768520" y="1473200"/>
            <a:ext cx="21128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0070C0"/>
                </a:solidFill>
                <a:effectLst/>
                <a:latin typeface="Google Sans"/>
              </a:rPr>
              <a:t>Benjamini-Hochberg</a:t>
            </a:r>
          </a:p>
          <a:p>
            <a:r>
              <a:rPr lang="en-US" altLang="zh-CN" b="0" i="0" dirty="0">
                <a:solidFill>
                  <a:srgbClr val="0070C0"/>
                </a:solidFill>
                <a:effectLst/>
                <a:latin typeface="Google Sans"/>
              </a:rPr>
              <a:t>adjustment</a:t>
            </a:r>
            <a:endParaRPr lang="zh-CN" altLang="en-US" dirty="0">
              <a:solidFill>
                <a:srgbClr val="0070C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A14B59-A0F5-21FA-3A73-17C7D800D084}"/>
              </a:ext>
            </a:extLst>
          </p:cNvPr>
          <p:cNvSpPr/>
          <p:nvPr/>
        </p:nvSpPr>
        <p:spPr>
          <a:xfrm>
            <a:off x="1881182" y="2611120"/>
            <a:ext cx="5698178" cy="325120"/>
          </a:xfrm>
          <a:prstGeom prst="rect">
            <a:avLst/>
          </a:prstGeom>
          <a:solidFill>
            <a:schemeClr val="accent6">
              <a:alpha val="21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B16F5E1-04C9-55CB-8133-746587BEA4F3}"/>
              </a:ext>
            </a:extLst>
          </p:cNvPr>
          <p:cNvSpPr/>
          <p:nvPr/>
        </p:nvSpPr>
        <p:spPr>
          <a:xfrm>
            <a:off x="1881182" y="3030252"/>
            <a:ext cx="5698178" cy="325120"/>
          </a:xfrm>
          <a:prstGeom prst="rect">
            <a:avLst/>
          </a:prstGeom>
          <a:solidFill>
            <a:schemeClr val="accent6">
              <a:alpha val="21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F808C07-FF30-2C70-9AA9-15DFFC1826CF}"/>
              </a:ext>
            </a:extLst>
          </p:cNvPr>
          <p:cNvSpPr/>
          <p:nvPr/>
        </p:nvSpPr>
        <p:spPr>
          <a:xfrm>
            <a:off x="1881182" y="4767612"/>
            <a:ext cx="5698178" cy="325120"/>
          </a:xfrm>
          <a:prstGeom prst="rect">
            <a:avLst/>
          </a:prstGeom>
          <a:solidFill>
            <a:schemeClr val="accent6">
              <a:alpha val="21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67231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9889-F4CC-8F91-96D8-CE952DB98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C5B22E3C-BD06-E5F3-0BE6-B03BAE735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040" y="884008"/>
            <a:ext cx="5311922" cy="35437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163C9E-A590-FE8D-7FBB-BF440F606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3525"/>
            <a:ext cx="10515600" cy="650875"/>
          </a:xfrm>
        </p:spPr>
        <p:txBody>
          <a:bodyPr>
            <a:normAutofit/>
          </a:bodyPr>
          <a:lstStyle/>
          <a:p>
            <a:r>
              <a:rPr lang="en-US" altLang="zh-CN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Q3: predictive biomarker for the treatment</a:t>
            </a:r>
            <a:endParaRPr lang="zh-CN" alt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966D8D-50E5-D9EE-065D-B62DFF1CE1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2558"/>
          <a:stretch/>
        </p:blipFill>
        <p:spPr>
          <a:xfrm>
            <a:off x="379730" y="1241853"/>
            <a:ext cx="4544059" cy="2211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D517D1-DD60-C809-D440-9409A51162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757"/>
          <a:stretch/>
        </p:blipFill>
        <p:spPr>
          <a:xfrm>
            <a:off x="288290" y="1463041"/>
            <a:ext cx="4544059" cy="226609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3F4430A-3AA9-A1A6-83B6-D0510FCC0FBA}"/>
              </a:ext>
            </a:extLst>
          </p:cNvPr>
          <p:cNvSpPr/>
          <p:nvPr/>
        </p:nvSpPr>
        <p:spPr>
          <a:xfrm>
            <a:off x="393701" y="2374900"/>
            <a:ext cx="2197099" cy="221188"/>
          </a:xfrm>
          <a:prstGeom prst="rect">
            <a:avLst/>
          </a:prstGeom>
          <a:solidFill>
            <a:schemeClr val="accent6">
              <a:alpha val="21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675FCA-66D2-D954-84FC-9B1C6CED31D7}"/>
              </a:ext>
            </a:extLst>
          </p:cNvPr>
          <p:cNvSpPr/>
          <p:nvPr/>
        </p:nvSpPr>
        <p:spPr>
          <a:xfrm>
            <a:off x="393701" y="3507948"/>
            <a:ext cx="2197099" cy="221188"/>
          </a:xfrm>
          <a:prstGeom prst="rect">
            <a:avLst/>
          </a:prstGeom>
          <a:solidFill>
            <a:schemeClr val="accent6">
              <a:alpha val="21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D5B327-AE13-BE93-8E08-F7746659469C}"/>
              </a:ext>
            </a:extLst>
          </p:cNvPr>
          <p:cNvSpPr/>
          <p:nvPr/>
        </p:nvSpPr>
        <p:spPr>
          <a:xfrm>
            <a:off x="393701" y="2655882"/>
            <a:ext cx="2197099" cy="221188"/>
          </a:xfrm>
          <a:prstGeom prst="rect">
            <a:avLst/>
          </a:prstGeom>
          <a:solidFill>
            <a:schemeClr val="accent4">
              <a:lumMod val="60000"/>
              <a:lumOff val="40000"/>
              <a:alpha val="21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4A40070-2270-1F82-0B58-E6E2A3AB9B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342" y="4279879"/>
            <a:ext cx="2312050" cy="223064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7A51F93-150E-947A-D73D-610FC35C0C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1053" y="4279879"/>
            <a:ext cx="2262736" cy="223064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8E50F01-A761-FAEF-27E7-B57BCFF0CE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450" y="4269130"/>
            <a:ext cx="2262736" cy="2241389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B5AB7329-3BCC-B236-DEEC-180D7C622C16}"/>
              </a:ext>
            </a:extLst>
          </p:cNvPr>
          <p:cNvSpPr/>
          <p:nvPr/>
        </p:nvSpPr>
        <p:spPr>
          <a:xfrm>
            <a:off x="3996230" y="2374900"/>
            <a:ext cx="836120" cy="221188"/>
          </a:xfrm>
          <a:prstGeom prst="rect">
            <a:avLst/>
          </a:prstGeom>
          <a:solidFill>
            <a:schemeClr val="accent6">
              <a:alpha val="21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8FA8A4-E487-E939-DB4A-3B906062FA64}"/>
              </a:ext>
            </a:extLst>
          </p:cNvPr>
          <p:cNvSpPr/>
          <p:nvPr/>
        </p:nvSpPr>
        <p:spPr>
          <a:xfrm>
            <a:off x="2875454" y="3507948"/>
            <a:ext cx="836120" cy="221188"/>
          </a:xfrm>
          <a:prstGeom prst="rect">
            <a:avLst/>
          </a:prstGeom>
          <a:solidFill>
            <a:schemeClr val="accent6">
              <a:alpha val="21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6AFC017-0DAC-6DB8-05BF-0D27C9F9325B}"/>
              </a:ext>
            </a:extLst>
          </p:cNvPr>
          <p:cNvSpPr/>
          <p:nvPr/>
        </p:nvSpPr>
        <p:spPr>
          <a:xfrm>
            <a:off x="2875455" y="2655882"/>
            <a:ext cx="836120" cy="221188"/>
          </a:xfrm>
          <a:prstGeom prst="rect">
            <a:avLst/>
          </a:prstGeom>
          <a:solidFill>
            <a:schemeClr val="accent4">
              <a:lumMod val="60000"/>
              <a:lumOff val="40000"/>
              <a:alpha val="21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1074B3C-B2B6-B7B8-B0E6-2C91F5E0B3A0}"/>
              </a:ext>
            </a:extLst>
          </p:cNvPr>
          <p:cNvSpPr txBox="1"/>
          <p:nvPr/>
        </p:nvSpPr>
        <p:spPr>
          <a:xfrm>
            <a:off x="8211593" y="4852393"/>
            <a:ext cx="3040961" cy="1477328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Potential improving strategies:</a:t>
            </a:r>
          </a:p>
          <a:p>
            <a:pPr marL="342900" indent="-342900">
              <a:buAutoNum type="arabicPeriod"/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Original continuous values</a:t>
            </a:r>
          </a:p>
          <a:p>
            <a:pPr marL="342900" indent="-342900">
              <a:buAutoNum type="arabicPeriod"/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Multiple categories</a:t>
            </a:r>
          </a:p>
          <a:p>
            <a:pPr marL="342900" indent="-342900">
              <a:buAutoNum type="arabicPeriod"/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STEPP</a:t>
            </a:r>
          </a:p>
          <a:p>
            <a:pPr marL="342900" indent="-342900">
              <a:buAutoNum type="arabicPeriod"/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Machine learning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458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45</Words>
  <Application>Microsoft Office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Google Sans</vt:lpstr>
      <vt:lpstr>等线</vt:lpstr>
      <vt:lpstr>等线 Light</vt:lpstr>
      <vt:lpstr>Arial</vt:lpstr>
      <vt:lpstr>Calibri</vt:lpstr>
      <vt:lpstr>Office Theme</vt:lpstr>
      <vt:lpstr>Q1: difference in PFS between treatment groups</vt:lpstr>
      <vt:lpstr>Q2: gene expression scores’ association with PFS</vt:lpstr>
      <vt:lpstr>Q3: predictive biomarker for the treatment</vt:lpstr>
    </vt:vector>
  </TitlesOfParts>
  <Company>Merck KGaA Darmstadt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Xiaokang Zhang</dc:creator>
  <cp:lastModifiedBy>Xiaokang Zhang</cp:lastModifiedBy>
  <cp:revision>1</cp:revision>
  <dcterms:created xsi:type="dcterms:W3CDTF">2025-11-25T12:29:15Z</dcterms:created>
  <dcterms:modified xsi:type="dcterms:W3CDTF">2025-11-25T13:09:27Z</dcterms:modified>
</cp:coreProperties>
</file>